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45720"/>
          </a:xfrm>
          <a:prstGeom prst="rect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40080"/>
            <a:ext cx="8138160" cy="3931920"/>
          </a:xfrm>
          <a:prstGeom prst="rect">
            <a:avLst/>
          </a:prstGeom>
          <a:solidFill>
            <a:srgbClr val="112042">
              <a:alpha val="80000"/>
            </a:srgbClr>
          </a:solidFill>
          <a:ln w="12700">
            <a:solidFill>
              <a:srgbClr val="1A6F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0" y="1005840"/>
            <a:ext cx="91440" cy="91440"/>
          </a:xfrm>
          <a:prstGeom prst="ellipse">
            <a:avLst/>
          </a:prstGeom>
          <a:solidFill>
            <a:srgbClr val="1A6FD4">
              <a:alpha val="60000"/>
            </a:srgbClr>
          </a:solidFill>
          <a:ln w="12700">
            <a:solidFill>
              <a:srgbClr val="1A6FD4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73568" y="1005840"/>
            <a:ext cx="91440" cy="91440"/>
          </a:xfrm>
          <a:prstGeom prst="ellipse">
            <a:avLst/>
          </a:prstGeom>
          <a:solidFill>
            <a:srgbClr val="1A6FD4">
              <a:alpha val="60000"/>
            </a:srgbClr>
          </a:solidFill>
          <a:ln w="12700">
            <a:solidFill>
              <a:srgbClr val="1A6FD4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74736" y="1005840"/>
            <a:ext cx="91440" cy="91440"/>
          </a:xfrm>
          <a:prstGeom prst="ellipse">
            <a:avLst/>
          </a:prstGeom>
          <a:solidFill>
            <a:srgbClr val="1A6FD4">
              <a:alpha val="60000"/>
            </a:srgbClr>
          </a:solidFill>
          <a:ln w="12700">
            <a:solidFill>
              <a:srgbClr val="1A6FD4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375904" y="1005840"/>
            <a:ext cx="91440" cy="91440"/>
          </a:xfrm>
          <a:prstGeom prst="ellipse">
            <a:avLst/>
          </a:prstGeom>
          <a:solidFill>
            <a:srgbClr val="1A6FD4">
              <a:alpha val="60000"/>
            </a:srgbClr>
          </a:solidFill>
          <a:ln w="12700">
            <a:solidFill>
              <a:srgbClr val="1A6FD4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77072" y="1005840"/>
            <a:ext cx="91440" cy="91440"/>
          </a:xfrm>
          <a:prstGeom prst="ellipse">
            <a:avLst/>
          </a:prstGeom>
          <a:solidFill>
            <a:srgbClr val="1A6FD4">
              <a:alpha val="60000"/>
            </a:srgbClr>
          </a:solidFill>
          <a:ln w="12700">
            <a:solidFill>
              <a:srgbClr val="1A6FD4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7772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EdWise Group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1207008"/>
            <a:ext cx="7772400" cy="0"/>
          </a:xfrm>
          <a:prstGeom prst="line">
            <a:avLst/>
          </a:prstGeom>
          <a:noFill/>
          <a:ln w="12700">
            <a:solidFill>
              <a:srgbClr val="1A6FD4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137160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Finance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685800" y="201168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Certification Portal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85800" y="27889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EdWise Finance Requirements  ·  Ed-Fi ODS 2026  ·  Indiana DOE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3337560"/>
            <a:ext cx="1371600" cy="320040"/>
          </a:xfrm>
          <a:prstGeom prst="rect">
            <a:avLst>
              <a:gd name="adj" fmla="val 14286"/>
            </a:avLst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337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v3.0.0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194560" y="3337560"/>
            <a:ext cx="1828800" cy="320040"/>
          </a:xfrm>
          <a:prstGeom prst="rect">
            <a:avLst>
              <a:gd name="adj" fmla="val 14286"/>
            </a:avLst>
          </a:prstGeom>
          <a:solidFill>
            <a:srgbClr val="0D2D5E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94560" y="3337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Indiana DOE 2026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82880" y="484632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EDWISE GROUP  ·  VENDOR CERTIFICATION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D5E"/>
          </a:solidFill>
          <a:ln w="12700">
            <a:solidFill>
              <a:srgbClr val="0D2D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PROJECT OVERVIEW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EdWise Finance Portal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384048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77240"/>
            <a:ext cx="3840480" cy="64008"/>
          </a:xfrm>
          <a:prstGeom prst="rect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68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EdWise Finance Portal?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multi-vendor Streamlit web application for Indiana DOE school finance data certification.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938528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Ed-Fi ODS 2026 API compliance testing and validation for financial resources.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505456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five core financial resource types across the Ed-Fi and IDOE API namespaces.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072384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end-to-end vendor certification workflow: verification → validation → reporting.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639312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Education Service Agencies and school finance vendors submitting to Indiana DOE.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89120" y="777240"/>
            <a:ext cx="448056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89120" y="777240"/>
            <a:ext cx="4480560" cy="64008"/>
          </a:xfrm>
          <a:prstGeom prst="rect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868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Platform Metrics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0" y="1371600"/>
            <a:ext cx="1920240" cy="82296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139903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572000" y="18105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Resources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675120" y="1371600"/>
            <a:ext cx="1920240" cy="82296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139903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675120" y="18105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Rules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0" y="2377440"/>
            <a:ext cx="1920240" cy="82296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0" y="240487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4572000" y="28163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 Sections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675120" y="2377440"/>
            <a:ext cx="1920240" cy="82296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75120" y="240487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675120" y="28163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Modules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0" y="3383280"/>
            <a:ext cx="1920240" cy="82296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0" y="341071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4572000" y="38221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Vendors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D5E"/>
          </a:solidFill>
          <a:ln w="12700">
            <a:solidFill>
              <a:srgbClr val="0D2D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OBJECTIVES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EdWise Finance Portal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41605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77240"/>
            <a:ext cx="54864" cy="1261872"/>
          </a:xfrm>
          <a:prstGeom prst="rect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8686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Validate Financial Data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" y="1207008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all 5 Ed-Fi financial resources comply with Indiana DOE field-level and business-rule requirements before official submission.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777240"/>
            <a:ext cx="41605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777240"/>
            <a:ext cx="54864" cy="1261872"/>
          </a:xfrm>
          <a:prstGeom prst="rect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73752" y="8686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API Compliance Testing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73752" y="1207008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live API endpoints against the Ed-Fi ODS 2026 standard, verifying HTTP responses, data completeness, and structural correctness.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194560"/>
            <a:ext cx="41605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194560"/>
            <a:ext cx="54864" cy="1261872"/>
          </a:xfrm>
          <a:prstGeom prst="rect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2860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🧮  Business Rule Enforcement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8912" y="2624328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50+ rules across capitalized equipment, subawards, and unused leave payments — including calculations, thresholds, and cross-table checks.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09160" y="2194560"/>
            <a:ext cx="41605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194560"/>
            <a:ext cx="54864" cy="1261872"/>
          </a:xfrm>
          <a:prstGeom prst="rect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22860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Lifecycle Verification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73752" y="2624328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that the correct data posting sequence is followed: LocalAccount → LocalActual → payment transactions.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3611880"/>
            <a:ext cx="41605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611880"/>
            <a:ext cx="54864" cy="1261872"/>
          </a:xfrm>
          <a:prstGeom prst="rect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37033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🗑️  Delete &amp; Reset Verification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38912" y="4041648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that previously submitted records have been correctly deleted or reset, returning zero counts from the ODS API.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09160" y="3611880"/>
            <a:ext cx="41605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3611880"/>
            <a:ext cx="54864" cy="1261872"/>
          </a:xfrm>
          <a:prstGeom prst="rect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73752" y="37033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Reporting &amp; Export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73752" y="4041648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timestamped Excel reports for each verification run, providing audit trails for certification submissions.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D5E"/>
          </a:solidFill>
          <a:ln w="12700">
            <a:solidFill>
              <a:srgbClr val="0D2D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FINANCIAL RESOURCES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Core API Resources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68580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Ed-Fi ODS 2026 Resources Covered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85953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097280"/>
            <a:ext cx="64008" cy="694944"/>
          </a:xfrm>
          <a:prstGeom prst="rect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521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LocalAccount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834640" y="1188720"/>
            <a:ext cx="777240" cy="20116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34640" y="118872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ED-FI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02920" y="1426464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the chart-of-accounts entry with dimension codes (Fund, Function, Object, OperationalUnit, Section, SubCategory). Required as foundation for all transactions.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589520" y="1152144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fields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1865376"/>
            <a:ext cx="85953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1865376"/>
            <a:ext cx="64008" cy="694944"/>
          </a:xfrm>
          <a:prstGeom prst="rect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920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LocalActual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834640" y="1956816"/>
            <a:ext cx="777240" cy="20116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34640" y="195681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ED-FI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02920" y="2194560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actual financial transactions with amount, asOfDate, and FinancialCollectionDescriptor. Links back to LocalAccount via reference.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589520" y="192024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fields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633472"/>
            <a:ext cx="85953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633472"/>
            <a:ext cx="64008" cy="69494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268833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LocalCapitalizedEquipment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834640" y="2724912"/>
            <a:ext cx="777240" cy="201168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34640" y="272491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IDOE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02920" y="296265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capital asset purchases. Includes PerUnitCost, PaymentAmount, CapitalizedThreshold, EquipmentType, AcquisitionDate, and RecordIdentifier.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589520" y="268833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fields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3401568"/>
            <a:ext cx="85953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3401568"/>
            <a:ext cx="64008" cy="69494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34564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LocalSubaward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834640" y="3493008"/>
            <a:ext cx="777240" cy="201168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34640" y="349300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IDOE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02920" y="3730752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subcontracting expenditures with First50k / Excess50k split logic, SubawardAmount, ExpenditureAmount, and multi-year contract information.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589520" y="345643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fields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4169664"/>
            <a:ext cx="85953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4320" y="4169664"/>
            <a:ext cx="64008" cy="69494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42245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🏖️  LocalUnusedLeavePayment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834640" y="4261104"/>
            <a:ext cx="777240" cy="201168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834640" y="4261104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IDOE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02920" y="4498848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employee unused-leave payouts. Tracks Direct and Indirect amounts, employee name, job title, and payment date.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589520" y="422452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fields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D5E"/>
          </a:solidFill>
          <a:ln w="12700">
            <a:solidFill>
              <a:srgbClr val="0D2D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WORKFLOW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Certification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1261872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1261872" cy="54864"/>
          </a:xfrm>
          <a:prstGeom prst="rect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" y="1115568"/>
            <a:ext cx="640080" cy="640080"/>
          </a:xfrm>
          <a:prstGeom prst="ellipse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11155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38328" y="1920240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" y="2331720"/>
            <a:ext cx="1133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selects org &amp; signs in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536192" y="1463040"/>
            <a:ext cx="173736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09928" y="914400"/>
            <a:ext cx="1261872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709928" y="914400"/>
            <a:ext cx="1261872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20824" y="1115568"/>
            <a:ext cx="640080" cy="6400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20824" y="11155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773936" y="1920240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Params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773936" y="2331720"/>
            <a:ext cx="1133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AccountID · EdOrgID · FiscalYear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971800" y="1463040"/>
            <a:ext cx="173736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45536" y="914400"/>
            <a:ext cx="1261872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145536" y="914400"/>
            <a:ext cx="1261872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56432" y="1115568"/>
            <a:ext cx="640080" cy="6400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56432" y="11155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209544" y="1920240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09544" y="2331720"/>
            <a:ext cx="1133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expected values per resource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407408" y="1463040"/>
            <a:ext cx="173736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81144" y="914400"/>
            <a:ext cx="1261872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81144" y="914400"/>
            <a:ext cx="1261872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92040" y="1115568"/>
            <a:ext cx="640080" cy="6400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11155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4645152" y="1920240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&amp; Validate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645152" y="2331720"/>
            <a:ext cx="1133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call + 50+ rule checks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843016" y="1463040"/>
            <a:ext cx="173736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16752" y="914400"/>
            <a:ext cx="1261872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016752" y="914400"/>
            <a:ext cx="1261872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27648" y="1115568"/>
            <a:ext cx="640080" cy="6400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27648" y="11155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6080760" y="1920240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080760" y="2331720"/>
            <a:ext cx="1133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Pass/Fail/Flag per field &amp; rule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278624" y="1463040"/>
            <a:ext cx="173736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452360" y="914400"/>
            <a:ext cx="1261872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452360" y="914400"/>
            <a:ext cx="1261872" cy="54864"/>
          </a:xfrm>
          <a:prstGeom prst="rect">
            <a:avLst/>
          </a:prstGeom>
          <a:solidFill>
            <a:srgbClr val="0D2D5E"/>
          </a:solidFill>
          <a:ln w="12700">
            <a:solidFill>
              <a:srgbClr val="0D2D5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763256" y="1115568"/>
            <a:ext cx="640080" cy="640080"/>
          </a:xfrm>
          <a:prstGeom prst="ellipse">
            <a:avLst/>
          </a:prstGeom>
          <a:solidFill>
            <a:srgbClr val="0D2D5E"/>
          </a:solidFill>
          <a:ln w="12700">
            <a:solidFill>
              <a:srgbClr val="0D2D5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63256" y="11155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7516368" y="1920240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Report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516368" y="2331720"/>
            <a:ext cx="1133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timestamped .xlsx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274320" y="457200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Navigation Modules: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74320" y="4846320"/>
            <a:ext cx="2743200" cy="237744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4320" y="484632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Capitalized Equipment Verification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200400" y="4846320"/>
            <a:ext cx="2743200" cy="237744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00400" y="484632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Subawards Verification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126480" y="4846320"/>
            <a:ext cx="2743200" cy="237744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26480" y="484632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🏖️  Unused Leave Verification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274320" y="4846320"/>
            <a:ext cx="2743200" cy="237744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74320" y="484632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Financial Data Update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3200400" y="4846320"/>
            <a:ext cx="2743200" cy="237744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200400" y="484632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🗑️  Financial Data Delete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6126480" y="4846320"/>
            <a:ext cx="2743200" cy="237744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126480" y="484632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Financial Data Reset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D5E"/>
          </a:solidFill>
          <a:ln w="12700">
            <a:solidFill>
              <a:srgbClr val="0D2D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API ARCHITECTURE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Ed-Fi ODS 2026 Integration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41148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31520"/>
            <a:ext cx="4114800" cy="64008"/>
          </a:xfrm>
          <a:prstGeom prst="rect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22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Authentication Flow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29844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Vendor selects org &amp; enters credentials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1773936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SHA-256 password hash compared to secrets.toml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249424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Vendor-specific API key &amp; secret loaded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272491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POST /oauth/token with Basic Auth (Base64)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32004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Bearer token cached in session state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367588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Token reused until expiry; auto-refreshed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4151376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All GET requests use Bearer Authorization header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63440" y="731520"/>
            <a:ext cx="42062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731520"/>
            <a:ext cx="4206240" cy="64008"/>
          </a:xfrm>
          <a:prstGeom prst="rect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822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API Endpoint Types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46320" y="1298448"/>
            <a:ext cx="384048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133502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GET (Query Params)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83480" y="15361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records by AccountIdentifier, EdOrgId, FiscalYear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846320" y="1865376"/>
            <a:ext cx="3840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19019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GET (Path Param)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83480" y="21031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individual record deletion by Record ID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46320" y="2432304"/>
            <a:ext cx="384048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24688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Dimension APIs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83480" y="26700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FundCode, FunctionCode, ObjectCode, etc.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46320" y="2999232"/>
            <a:ext cx="3840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303580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of Accounts API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83480" y="323697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 AccountIdentifier against master CoA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46320" y="3566160"/>
            <a:ext cx="384048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83480" y="360273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Descriptor API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83480" y="380390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FinancialCollectionDescriptor code values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846320" y="4133088"/>
            <a:ext cx="3840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83480" y="416966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GET (totalCount)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983480" y="43708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zero-count after vendor data reset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D5E"/>
          </a:solidFill>
          <a:ln w="12700">
            <a:solidFill>
              <a:srgbClr val="0D2D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BUSINESS LOGIC SUMMARY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Validation Sections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731520"/>
            <a:ext cx="438912" cy="80467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68680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86384" y="7772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Calculation Rules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86384" y="1051560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Equipment: PerUnitCost ≤ PaymentAmount, PaymentAmount ≥ CapitalizedThreshold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09160" y="731520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731520"/>
            <a:ext cx="438912" cy="80467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868680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221224" y="7772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Cross-Table Consistency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221224" y="1051560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spending across Equipment + Subawards + Leave must not exceed LocalActual Amount.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1609344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1609344"/>
            <a:ext cx="438912" cy="80467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1746504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86384" y="165506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&amp; Allocation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86384" y="1929384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user-supplied Approved Budget compared to Actual Amount.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09160" y="1609344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09160" y="1609344"/>
            <a:ext cx="438912" cy="80467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1746504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21224" y="165506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Detection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221224" y="1929384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Within-table: Same AccountID + FiscalYear + AsOfDate + Amount flagged as duplicate.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2487168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2487168"/>
            <a:ext cx="438912" cy="80467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2624328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86384" y="25328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Time-Based Validations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86384" y="2807208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AsOfDate, AcquisitionDate, PaymentDate must fall within FiscalYear window (July 1 – June 30).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09160" y="2487168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09160" y="2487168"/>
            <a:ext cx="438912" cy="80467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2624328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21224" y="25328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Classification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221224" y="2807208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fund codes (4xxx) must not be used for leave/payroll transactions.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3364992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4320" y="3364992"/>
            <a:ext cx="438912" cy="80467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3502152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§7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86384" y="34107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Multi-Year Contract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86384" y="3685032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ContractNumberOfYears must be &gt; 0 and within 1–30 range.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09160" y="3364992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09160" y="3364992"/>
            <a:ext cx="438912" cy="80467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09160" y="3502152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§8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221224" y="34107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Reasonability Checks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221224" y="3685032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PaymentAmount/PerUnitCost must imply quantity ≥ 1.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74320" y="4242816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74320" y="4242816"/>
            <a:ext cx="438912" cy="80467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4379976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§9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86384" y="428853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Validations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786384" y="4562856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sequence required: LocalAccount → LocalActual → Payment transactions.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709160" y="4242816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09160" y="4242816"/>
            <a:ext cx="438912" cy="80467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09160" y="4379976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§10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221224" y="428853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Descriptor Consistency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5221224" y="4562856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FinancialCollectionDescriptor must be identical across all resources for the same AccountIdentifier and fiscal year.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D5E"/>
          </a:solidFill>
          <a:ln w="12700">
            <a:solidFill>
              <a:srgbClr val="0D2D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VALIDATION STATUS MODEL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· FAIL · FLAG · SKIP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1965960" cy="2011680"/>
          </a:xfrm>
          <a:prstGeom prst="rect">
            <a:avLst/>
          </a:prstGeom>
          <a:solidFill>
            <a:srgbClr val="F0FDF4"/>
          </a:solidFill>
          <a:ln w="25400">
            <a:solidFill>
              <a:srgbClr val="BBF7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86868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74320" y="14630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182880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or rule evaluation succeeded. Value meets all format, range, and business rule requirements.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23160" y="777240"/>
            <a:ext cx="1965960" cy="2011680"/>
          </a:xfrm>
          <a:prstGeom prst="rect">
            <a:avLst/>
          </a:prstGeom>
          <a:solidFill>
            <a:srgbClr val="FEF2F2"/>
          </a:solidFill>
          <a:ln w="254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23160" y="86868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423160" y="14630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423160" y="182880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or rule evaluation failed. Vendor must correct and repost before certification can proceed.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0" y="777240"/>
            <a:ext cx="1965960" cy="2011680"/>
          </a:xfrm>
          <a:prstGeom prst="rect">
            <a:avLst/>
          </a:prstGeom>
          <a:solidFill>
            <a:srgbClr val="FFFBEB"/>
          </a:solidFill>
          <a:ln w="25400">
            <a:solidFill>
              <a:srgbClr val="FDE6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0" y="86868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572000" y="14630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0" y="182880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is within tolerance but warrants manual review. Does not block certification but requires explanation.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720840" y="777240"/>
            <a:ext cx="1965960" cy="2011680"/>
          </a:xfrm>
          <a:prstGeom prst="rect">
            <a:avLst/>
          </a:prstGeom>
          <a:solidFill>
            <a:srgbClr val="F8FAFC"/>
          </a:solidFill>
          <a:ln w="254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20840" y="86868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⏭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720840" y="14630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Skipped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20840" y="182880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or field not evaluated because prerequisites were missing (e.g., Record ID not provided).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3017520"/>
            <a:ext cx="85953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" y="3108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Interpretation Guide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47472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520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Fail results must be remediated before the vendor can receive certification. The export report identifies each failing field and the corrective action required.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3904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items are for human review only — they do not automatically block certification but must be addressed or acknowledged by the DOE reviewer.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28853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Delete/Reset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Reset verifications use HTTP status codes: 404/410 = record deleted (Pass); 200 with data = record still exists (Fail); 200 empty body = reset complete (Pass).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D5E"/>
          </a:solidFill>
          <a:ln w="12700">
            <a:solidFill>
              <a:srgbClr val="0D2D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DATA MANAGEMENT MODULES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· Delete · Reset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26974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31520"/>
            <a:ext cx="2697480" cy="64008"/>
          </a:xfrm>
          <a:prstGeom prst="rect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84124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Financial Data Update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84048" y="1261872"/>
            <a:ext cx="24688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32588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that vendor field updates are reflected in the ODS API. User provides updated values; system fetches live data and compares field-by-field.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84048" y="246888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4048" y="269748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Per-resource breakdown tabs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84048" y="3026664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matching with flexible comparison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84048" y="335584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missing or non-matching updated values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84048" y="368503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to Excel with field-level results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154680" y="731520"/>
            <a:ext cx="26974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54680" y="731520"/>
            <a:ext cx="269748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64408" y="84124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🗑️  Financial Data Delete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64408" y="1261872"/>
            <a:ext cx="24688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64408" y="132588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that specific records have been deleted from the ODS. Sends GET request by path-param Record ID; passes on HTTP 404, 410, or empty 200 response.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264408" y="246888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64408" y="269748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Path-parameter Record IDs per resource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264408" y="3026664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HTTP 404 (Not Found) as Pass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264408" y="335584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HTTP 410 (Gone) as Pass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264408" y="368503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200 with blank body as Pass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035040" y="731520"/>
            <a:ext cx="26974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35040" y="731520"/>
            <a:ext cx="2697480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44768" y="84124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Financial Data Reset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144768" y="1261872"/>
            <a:ext cx="24688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44768" y="132588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that all records for a given EducationOrganizationId + FiscalYear + Descriptor combination have been zeroed out after a vendor reset operation.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144768" y="246888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Features: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144768" y="269748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params: EdOrgId + FiscalYear + Descriptor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144768" y="3026664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totalCount=true header for count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144768" y="335584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 only if returned count = 0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144768" y="368503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4 resources (LocalActual excluded from reset check)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EdWise Group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Certification?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65760" y="16459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all verification modules · Address all ❌ Fail items · Export and submit your report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286000"/>
            <a:ext cx="1920240" cy="1188720"/>
          </a:xfrm>
          <a:prstGeom prst="rect">
            <a:avLst/>
          </a:prstGeom>
          <a:solidFill>
            <a:srgbClr val="112042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3774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65760" y="274320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29718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Ed-Fi ODS 2026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468880" y="2286000"/>
            <a:ext cx="1920240" cy="1188720"/>
          </a:xfrm>
          <a:prstGeom prst="rect">
            <a:avLst/>
          </a:prstGeom>
          <a:solidFill>
            <a:srgbClr val="112042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23774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468880" y="274320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468880" y="29718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Indiana DOE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0" y="2286000"/>
            <a:ext cx="1920240" cy="1188720"/>
          </a:xfrm>
          <a:prstGeom prst="rect">
            <a:avLst/>
          </a:prstGeom>
          <a:solidFill>
            <a:srgbClr val="112042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23774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572000" y="274320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572000" y="29718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www.edwisegroup.com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675120" y="2286000"/>
            <a:ext cx="1920240" cy="1188720"/>
          </a:xfrm>
          <a:prstGeom prst="rect">
            <a:avLst/>
          </a:prstGeom>
          <a:solidFill>
            <a:srgbClr val="112042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23774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🔖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675120" y="274320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675120" y="29718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v3.0.0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82880" y="484632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Edwise Group  ·  Confidential  ·  Ed-Fi ODS 2026  ·  Indiana DOE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EdWise Finance Requirements</dc:title>
  <dc:subject>PptxGenJS Presentation</dc:subject>
  <dc:creator>EdWise Group</dc:creator>
  <cp:lastModifiedBy>EdWise Group</cp:lastModifiedBy>
  <cp:revision>1</cp:revision>
  <dcterms:created xsi:type="dcterms:W3CDTF">2026-04-01T04:33:36Z</dcterms:created>
  <dcterms:modified xsi:type="dcterms:W3CDTF">2026-04-01T04:33:36Z</dcterms:modified>
</cp:coreProperties>
</file>